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4636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hub.docker.com/r/cockroachdb/cockroach" TargetMode="External"/><Relationship Id="rId3" Type="http://schemas.openxmlformats.org/officeDocument/2006/relationships/hyperlink" Target="https://hub.docker.com/_/postgres" TargetMode="External"/><Relationship Id="rId7" Type="http://schemas.openxmlformats.org/officeDocument/2006/relationships/hyperlink" Target="https://container-registry.oracle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IBM/Db2CommunityEdition" TargetMode="External"/><Relationship Id="rId5" Type="http://schemas.openxmlformats.org/officeDocument/2006/relationships/hyperlink" Target="https://hub.docker.com/_/mariadb" TargetMode="External"/><Relationship Id="rId4" Type="http://schemas.openxmlformats.org/officeDocument/2006/relationships/hyperlink" Target="https://hub.docker.com/_/mysq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r/mongodb/mongodb-community-serve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ub.docker.com/r/valkey/valkey" TargetMode="External"/><Relationship Id="rId5" Type="http://schemas.openxmlformats.org/officeDocument/2006/relationships/hyperlink" Target="https://hub.docker.com/_/redis" TargetMode="External"/><Relationship Id="rId4" Type="http://schemas.openxmlformats.org/officeDocument/2006/relationships/hyperlink" Target="https://hub.docker.com/r/couchbase/server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_/cassandra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ub.docker.com/r/scylladb/scyll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_/neo4j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ub.docker.com/r/arangodb/arangodb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_/influxdb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ub.docker.com/r/timescale/timescaledb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r/opensearchproject/opensearch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ub.docker.com/r/clickhouse/clickhouse-server" TargetMode="External"/><Relationship Id="rId5" Type="http://schemas.openxmlformats.org/officeDocument/2006/relationships/hyperlink" Target="https://hub.docker.com/_/solr" TargetMode="External"/><Relationship Id="rId4" Type="http://schemas.openxmlformats.org/officeDocument/2006/relationships/hyperlink" Target="https://www.docker.elastic.co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r/milvusdb/milvu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ub.docker.com/r/pgvector/pgvector" TargetMode="External"/><Relationship Id="rId5" Type="http://schemas.openxmlformats.org/officeDocument/2006/relationships/hyperlink" Target="https://hub.docker.com/r/semitechnologies/weaviate" TargetMode="External"/><Relationship Id="rId4" Type="http://schemas.openxmlformats.org/officeDocument/2006/relationships/hyperlink" Target="https://hub.docker.com/r/qdrant/qdrant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r/localstack/localstack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cr.microsoft.com/en-us/product/cosmosdb/linux/azure-cosmos-emulator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ftclement/containerized-databases-referenc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mariyanclemen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640080"/>
            <a:ext cx="1463040" cy="1463040"/>
          </a:xfrm>
          <a:prstGeom prst="ellipse">
            <a:avLst/>
          </a:prstGeom>
          <a:solidFill>
            <a:srgbClr val="1347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25482" y="1064362"/>
            <a:ext cx="614477" cy="196633"/>
          </a:xfrm>
          <a:prstGeom prst="ellipse">
            <a:avLst/>
          </a:prstGeom>
          <a:solidFill>
            <a:srgbClr val="2E7A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025482" y="1162678"/>
            <a:ext cx="614477" cy="417844"/>
          </a:xfrm>
          <a:prstGeom prst="rect">
            <a:avLst/>
          </a:prstGeom>
          <a:solidFill>
            <a:srgbClr val="2E7A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025482" y="1482206"/>
            <a:ext cx="614477" cy="196633"/>
          </a:xfrm>
          <a:prstGeom prst="ellipse">
            <a:avLst/>
          </a:prstGeom>
          <a:solidFill>
            <a:srgbClr val="13475F"/>
          </a:solidFill>
          <a:ln w="15875">
            <a:solidFill>
              <a:srgbClr val="2E7A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584180" y="1851660"/>
            <a:ext cx="960120" cy="960120"/>
          </a:xfrm>
          <a:prstGeom prst="ellipse">
            <a:avLst/>
          </a:prstGeom>
          <a:solidFill>
            <a:srgbClr val="1347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862615" y="2130095"/>
            <a:ext cx="403250" cy="1290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862615" y="2194615"/>
            <a:ext cx="403250" cy="27421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62615" y="2404305"/>
            <a:ext cx="403250" cy="129040"/>
          </a:xfrm>
          <a:prstGeom prst="ellipse">
            <a:avLst/>
          </a:prstGeom>
          <a:solidFill>
            <a:srgbClr val="13475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281160" y="2103120"/>
            <a:ext cx="822960" cy="822960"/>
          </a:xfrm>
          <a:prstGeom prst="ellipse">
            <a:avLst/>
          </a:prstGeom>
          <a:solidFill>
            <a:srgbClr val="1347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519818" y="2341778"/>
            <a:ext cx="345643" cy="11060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519818" y="2397081"/>
            <a:ext cx="345643" cy="235037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519818" y="2576816"/>
            <a:ext cx="345643" cy="110606"/>
          </a:xfrm>
          <a:prstGeom prst="ellipse">
            <a:avLst/>
          </a:prstGeom>
          <a:solidFill>
            <a:srgbClr val="13475F"/>
          </a:solidFill>
          <a:ln w="15875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6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COMMUNITY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240280"/>
            <a:ext cx="9875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Containerized Databases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2960" y="3429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reference for local labs, PoCs, and training.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2E7A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6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  |   COMMUNITY EDITION   |   FREE EDITION   |   LOCAL EMULATOR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4800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9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is a curated visual overview — the companion README is the complete, maintained reference.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623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·  Podman  ·  WSL2-ready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" cy="42062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19456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"Free" Actually Mean?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free database is open source. Every entry in this deck falls into one of four buckets.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42616" cy="4343400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42616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42616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545336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31343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OSI-approved license (Apache 2.0, MIT, BSD, GPL, etc.)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76656" y="3264408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41248" y="3200400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" y="3648456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41248" y="3584448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" y="4032504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41248" y="3968496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" y="4416552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41248" y="4352544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28416" y="1417320"/>
            <a:ext cx="2642616" cy="4343400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328416" y="1417320"/>
            <a:ext cx="2642616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328416" y="1783080"/>
            <a:ext cx="2642616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511296" y="1545336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EDITION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29584" y="231343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Vendor-labeled free tier, not always under an OSI license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47872" y="3264408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12464" y="3200400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 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47872" y="3648456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712464" y="3584448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Community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47872" y="4032504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712464" y="3968496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47872" y="441655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712464" y="4352544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ArangoDB 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99632" y="1417320"/>
            <a:ext cx="2642616" cy="4343400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199632" y="1417320"/>
            <a:ext cx="2642616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199632" y="1783080"/>
            <a:ext cx="2642616" cy="4114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82512" y="1545336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SOURCE-AVAILABLE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231343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use, but proprietary or non-OSI license (BSL, SSPL)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19088" y="3264408"/>
            <a:ext cx="73152" cy="73152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583680" y="3200400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19088" y="3648456"/>
            <a:ext cx="73152" cy="73152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583680" y="3584448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19088" y="4032504"/>
            <a:ext cx="73152" cy="73152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83680" y="3968496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Free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70848" y="1417320"/>
            <a:ext cx="2642616" cy="4343400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9070848" y="1417320"/>
            <a:ext cx="2642616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9070848" y="1783080"/>
            <a:ext cx="2642616" cy="4114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9253728" y="1545336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EMULATOR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272016" y="2313432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Emulates a cloud service locally — not a standalone database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290304" y="3264408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9454896" y="3200400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290304" y="3648456"/>
            <a:ext cx="73152" cy="7315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9454896" y="3584448"/>
            <a:ext cx="2093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Cosmos DB Emulator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162495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Databases — Curated Overview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" cy="42062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19456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selection across eight categories — see the README for the complete, exhaustive catalog.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95528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28116" y="1687068"/>
            <a:ext cx="192024" cy="614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28116" y="1717792"/>
            <a:ext cx="192024" cy="130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28116" y="1817644"/>
            <a:ext cx="192024" cy="61448"/>
          </a:xfrm>
          <a:prstGeom prst="ellipse">
            <a:avLst/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68096" y="2148840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(RDBMS)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8096" y="24688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MySQL, Db2 CE…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29000" y="137160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0" y="15544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790188" y="1687068"/>
            <a:ext cx="192024" cy="614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790188" y="1717792"/>
            <a:ext cx="192024" cy="130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790188" y="1817644"/>
            <a:ext cx="192024" cy="614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30168" y="2148840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/ Key-Value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30168" y="24688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MongoDB, Couchbase, Redis…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91072" y="137160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19672" y="155448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652260" y="1687068"/>
            <a:ext cx="192024" cy="614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652260" y="1717792"/>
            <a:ext cx="192024" cy="130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652260" y="1817644"/>
            <a:ext cx="192024" cy="61448"/>
          </a:xfrm>
          <a:prstGeom prst="ellipse">
            <a:avLst/>
          </a:prstGeom>
          <a:solidFill>
            <a:srgbClr val="21295C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92240" y="2148840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Wide-Column / NewSQL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24688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Cassandra, ScyllaDB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53144" y="137160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381744" y="1554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514332" y="1687068"/>
            <a:ext cx="192024" cy="614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514332" y="1717792"/>
            <a:ext cx="192024" cy="130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9514332" y="1817644"/>
            <a:ext cx="192024" cy="61448"/>
          </a:xfrm>
          <a:prstGeom prst="ellipse">
            <a:avLst/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354312" y="2148840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354312" y="2468880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CE, ArangoDB 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6928" y="3319272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95528" y="35021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928116" y="3634740"/>
            <a:ext cx="192024" cy="614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28116" y="3665464"/>
            <a:ext cx="192024" cy="130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928116" y="3765316"/>
            <a:ext cx="192024" cy="614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68096" y="409651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8096" y="441655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InfluxDB, TimescaleDB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29000" y="3319272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657600" y="350215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3790188" y="3634740"/>
            <a:ext cx="192024" cy="614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3790188" y="3665464"/>
            <a:ext cx="192024" cy="130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3790188" y="3765316"/>
            <a:ext cx="192024" cy="61448"/>
          </a:xfrm>
          <a:prstGeom prst="ellipse">
            <a:avLst/>
          </a:prstGeom>
          <a:solidFill>
            <a:srgbClr val="21295C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630168" y="409651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Analytics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630168" y="441655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OpenSearch, Elasticsearch…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91072" y="3319272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519672" y="35021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652260" y="3634740"/>
            <a:ext cx="192024" cy="614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652260" y="3665464"/>
            <a:ext cx="192024" cy="130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652260" y="3765316"/>
            <a:ext cx="192024" cy="61448"/>
          </a:xfrm>
          <a:prstGeom prst="ellipse">
            <a:avLst/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92240" y="409651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92240" y="441655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Milvus, Qdrant, Weaviate…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53144" y="3319272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9381744" y="35021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9514332" y="3634740"/>
            <a:ext cx="192024" cy="614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9514332" y="3665464"/>
            <a:ext cx="192024" cy="130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514332" y="3765316"/>
            <a:ext cx="192024" cy="61448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9354312" y="409651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Emulators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354312" y="4416552"/>
            <a:ext cx="22037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LocalStack, Cosmos DB Emulator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66928" y="534924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E7F0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95528" y="534924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is referenced by its ":latest" tag rather than a pinned version — always confirm the current stable tag on the registry before you pull. ✓ = personally tested by the author in a local lab.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162495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Databases — Curated Overview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" cy="42062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19456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(RDBMS)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Community Editions of standard SQL databases.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36576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138074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48197" y="149742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48197" y="152445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48197" y="1612329"/>
            <a:ext cx="168981" cy="54074"/>
          </a:xfrm>
          <a:prstGeom prst="ellipse">
            <a:avLst/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225296" y="13075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25296" y="155448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postgres:latest</a:t>
            </a:r>
            <a:endParaRPr lang="en-US" sz="825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1225296" y="174650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hub.docker.com/_/postgres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225296" y="19385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 ·  Resource: Low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95528" y="2176272"/>
            <a:ext cx="320040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open-source relational database known for standards compliance and strong ACID guarantees.</a:t>
            </a:r>
            <a:endParaRPr lang="en-US" sz="875" dirty="0"/>
          </a:p>
        </p:txBody>
      </p:sp>
      <p:sp>
        <p:nvSpPr>
          <p:cNvPr id="15" name="Shape 13"/>
          <p:cNvSpPr/>
          <p:nvPr/>
        </p:nvSpPr>
        <p:spPr>
          <a:xfrm>
            <a:off x="4498848" y="1234440"/>
            <a:ext cx="36576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138074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80117" y="149742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80117" y="152445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780117" y="1612329"/>
            <a:ext cx="168981" cy="54074"/>
          </a:xfrm>
          <a:prstGeom prst="ellipse">
            <a:avLst/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157216" y="13075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57216" y="155448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mysql:latest</a:t>
            </a:r>
            <a:endParaRPr lang="en-US" sz="825" dirty="0"/>
          </a:p>
        </p:txBody>
      </p:sp>
      <p:sp>
        <p:nvSpPr>
          <p:cNvPr id="22" name="Text 20">
            <a:hlinkClick r:id="rId4"/>
          </p:cNvPr>
          <p:cNvSpPr/>
          <p:nvPr/>
        </p:nvSpPr>
        <p:spPr>
          <a:xfrm>
            <a:off x="5157216" y="174650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hub.docker.com/_/mysql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157216" y="19385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 ·  Resource: Low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27448" y="2176272"/>
            <a:ext cx="320040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open-source relational database, commonly paired with web applications.</a:t>
            </a:r>
            <a:endParaRPr lang="en-US" sz="875" dirty="0"/>
          </a:p>
        </p:txBody>
      </p:sp>
      <p:sp>
        <p:nvSpPr>
          <p:cNvPr id="25" name="Shape 23"/>
          <p:cNvSpPr/>
          <p:nvPr/>
        </p:nvSpPr>
        <p:spPr>
          <a:xfrm>
            <a:off x="8430768" y="1234440"/>
            <a:ext cx="36576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95360" y="138074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712037" y="149742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712037" y="152445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712037" y="1612329"/>
            <a:ext cx="168981" cy="54074"/>
          </a:xfrm>
          <a:prstGeom prst="ellipse">
            <a:avLst/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089136" y="13075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089136" y="155448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mariadb:latest</a:t>
            </a:r>
            <a:endParaRPr lang="en-US" sz="825" dirty="0"/>
          </a:p>
        </p:txBody>
      </p:sp>
      <p:sp>
        <p:nvSpPr>
          <p:cNvPr id="32" name="Text 30">
            <a:hlinkClick r:id="rId5"/>
          </p:cNvPr>
          <p:cNvSpPr/>
          <p:nvPr/>
        </p:nvSpPr>
        <p:spPr>
          <a:xfrm>
            <a:off x="9089136" y="174650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hub.docker.com/_/mariadb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9089136" y="19385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 ·  Resource: Low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659368" y="2176272"/>
            <a:ext cx="320040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Community-driven MySQL fork with additional storage engines and replication features.</a:t>
            </a:r>
            <a:endParaRPr lang="en-US" sz="875" dirty="0"/>
          </a:p>
        </p:txBody>
      </p:sp>
      <p:sp>
        <p:nvSpPr>
          <p:cNvPr id="35" name="Shape 33"/>
          <p:cNvSpPr/>
          <p:nvPr/>
        </p:nvSpPr>
        <p:spPr>
          <a:xfrm>
            <a:off x="566928" y="3977640"/>
            <a:ext cx="36576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731520" y="412394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48197" y="424062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848197" y="426765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48197" y="4355529"/>
            <a:ext cx="168981" cy="5407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225296" y="40507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CE  ✓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225296" y="429768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icr.io/db2_community/db2:latest</a:t>
            </a:r>
            <a:endParaRPr lang="en-US" sz="825" dirty="0"/>
          </a:p>
        </p:txBody>
      </p:sp>
      <p:sp>
        <p:nvSpPr>
          <p:cNvPr id="42" name="Text 40">
            <a:hlinkClick r:id="rId6"/>
          </p:cNvPr>
          <p:cNvSpPr/>
          <p:nvPr/>
        </p:nvSpPr>
        <p:spPr>
          <a:xfrm>
            <a:off x="1225296" y="448970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github.com/IBM/Db2CE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1225296" y="46817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 ·  Resource: High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95528" y="4919472"/>
            <a:ext cx="320040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enterprise relational engine with advanced analytics and HA/DR features.</a:t>
            </a:r>
            <a:endParaRPr lang="en-US" sz="875" dirty="0"/>
          </a:p>
        </p:txBody>
      </p:sp>
      <p:sp>
        <p:nvSpPr>
          <p:cNvPr id="45" name="Shape 43"/>
          <p:cNvSpPr/>
          <p:nvPr/>
        </p:nvSpPr>
        <p:spPr>
          <a:xfrm>
            <a:off x="4498848" y="3977640"/>
            <a:ext cx="36576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663440" y="4123944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4780117" y="424062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780117" y="426765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780117" y="4355529"/>
            <a:ext cx="168981" cy="54074"/>
          </a:xfrm>
          <a:prstGeom prst="ellipse">
            <a:avLst/>
          </a:prstGeom>
          <a:solidFill>
            <a:srgbClr val="21295C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157216" y="40507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Free  ✓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5157216" y="429768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container-registry.oracle.com/database/free:latest</a:t>
            </a:r>
            <a:endParaRPr lang="en-US" sz="825" dirty="0"/>
          </a:p>
        </p:txBody>
      </p:sp>
      <p:sp>
        <p:nvSpPr>
          <p:cNvPr id="52" name="Text 50">
            <a:hlinkClick r:id="rId7"/>
          </p:cNvPr>
          <p:cNvSpPr/>
          <p:nvPr/>
        </p:nvSpPr>
        <p:spPr>
          <a:xfrm>
            <a:off x="5157216" y="448970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container-registry.oracle.com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5157216" y="46817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Free/SA  ·  Resource: High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27448" y="4919472"/>
            <a:ext cx="320040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Full-featured Oracle Database engine, free for development and small production use.</a:t>
            </a:r>
            <a:endParaRPr lang="en-US" sz="875" dirty="0"/>
          </a:p>
        </p:txBody>
      </p:sp>
      <p:sp>
        <p:nvSpPr>
          <p:cNvPr id="55" name="Shape 53"/>
          <p:cNvSpPr/>
          <p:nvPr/>
        </p:nvSpPr>
        <p:spPr>
          <a:xfrm>
            <a:off x="8430768" y="3977640"/>
            <a:ext cx="36576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8595360" y="4123944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8712037" y="424062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8712037" y="426765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8712037" y="4355529"/>
            <a:ext cx="168981" cy="54074"/>
          </a:xfrm>
          <a:prstGeom prst="ellipse">
            <a:avLst/>
          </a:prstGeom>
          <a:solidFill>
            <a:srgbClr val="21295C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9089136" y="40507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 ✓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9089136" y="429768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cockroachdb/cockroach:latest</a:t>
            </a:r>
            <a:endParaRPr lang="en-US" sz="825" dirty="0"/>
          </a:p>
        </p:txBody>
      </p:sp>
      <p:sp>
        <p:nvSpPr>
          <p:cNvPr id="62" name="Text 60">
            <a:hlinkClick r:id="rId8"/>
          </p:cNvPr>
          <p:cNvSpPr/>
          <p:nvPr/>
        </p:nvSpPr>
        <p:spPr>
          <a:xfrm>
            <a:off x="9089136" y="448970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hub.docker.com/r/cockroachdb</a:t>
            </a:r>
            <a:endParaRPr lang="en-US" sz="825" dirty="0"/>
          </a:p>
        </p:txBody>
      </p:sp>
      <p:sp>
        <p:nvSpPr>
          <p:cNvPr id="63" name="Text 61"/>
          <p:cNvSpPr/>
          <p:nvPr/>
        </p:nvSpPr>
        <p:spPr>
          <a:xfrm>
            <a:off x="9089136" y="46817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Free/SA  ·  Resource: Medium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659368" y="4919472"/>
            <a:ext cx="320040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SQL database built for resilience and horizontal scale-out.</a:t>
            </a:r>
            <a:endParaRPr lang="en-US" sz="875" dirty="0"/>
          </a:p>
        </p:txBody>
      </p:sp>
      <p:sp>
        <p:nvSpPr>
          <p:cNvPr id="65" name="Text 63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162495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Databases — Curated Overview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" cy="42062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19456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/ Key-Value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Schema-flexible stores for documents and fast key-value access.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52120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50392" y="151790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67069" y="163458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67069" y="166161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7069" y="1749489"/>
            <a:ext cx="168981" cy="5407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44168" y="144475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Community  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44168" y="169164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mongodb/mongodb-community-server:latest</a:t>
            </a:r>
            <a:endParaRPr lang="en-US" sz="825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1344168" y="188366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hub.docker.com/r/mongodb-community-server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344168" y="207568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 ·  Resource: Medium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2313432"/>
            <a:ext cx="47548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document database storing flexible, JSON-like BSON documents.</a:t>
            </a:r>
            <a:endParaRPr lang="en-US" sz="875" dirty="0"/>
          </a:p>
        </p:txBody>
      </p:sp>
      <p:sp>
        <p:nvSpPr>
          <p:cNvPr id="15" name="Shape 13"/>
          <p:cNvSpPr/>
          <p:nvPr/>
        </p:nvSpPr>
        <p:spPr>
          <a:xfrm>
            <a:off x="6355080" y="1371600"/>
            <a:ext cx="52120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19672" y="151790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36349" y="163458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636349" y="166161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636349" y="1749489"/>
            <a:ext cx="168981" cy="5407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013448" y="144475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CE  ✓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13448" y="169164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couchbase/server:community</a:t>
            </a:r>
            <a:endParaRPr lang="en-US" sz="825" dirty="0"/>
          </a:p>
        </p:txBody>
      </p:sp>
      <p:sp>
        <p:nvSpPr>
          <p:cNvPr id="22" name="Text 20">
            <a:hlinkClick r:id="rId4"/>
          </p:cNvPr>
          <p:cNvSpPr/>
          <p:nvPr/>
        </p:nvSpPr>
        <p:spPr>
          <a:xfrm>
            <a:off x="7013448" y="188366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hub.docker.com/r/couchbase/server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013448" y="207568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 ·  Resource: Medium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83680" y="2313432"/>
            <a:ext cx="47548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NoSQL database combining document storage, caching, and N1QL querying.</a:t>
            </a:r>
            <a:endParaRPr lang="en-US" sz="875" dirty="0"/>
          </a:p>
        </p:txBody>
      </p:sp>
      <p:sp>
        <p:nvSpPr>
          <p:cNvPr id="25" name="Shape 23"/>
          <p:cNvSpPr/>
          <p:nvPr/>
        </p:nvSpPr>
        <p:spPr>
          <a:xfrm>
            <a:off x="685800" y="4160520"/>
            <a:ext cx="52120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0392" y="430682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67069" y="44235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67069" y="44505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67069" y="4538409"/>
            <a:ext cx="168981" cy="54074"/>
          </a:xfrm>
          <a:prstGeom prst="ellipse">
            <a:avLst/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344168" y="423367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344168" y="44805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redis:latest</a:t>
            </a:r>
            <a:endParaRPr lang="en-US" sz="825" dirty="0"/>
          </a:p>
        </p:txBody>
      </p:sp>
      <p:sp>
        <p:nvSpPr>
          <p:cNvPr id="32" name="Text 30">
            <a:hlinkClick r:id="rId5"/>
          </p:cNvPr>
          <p:cNvSpPr/>
          <p:nvPr/>
        </p:nvSpPr>
        <p:spPr>
          <a:xfrm>
            <a:off x="1344168" y="467258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hub.docker.com/_/redis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344168" y="486460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 ·  Resource: Low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14400" y="5102352"/>
            <a:ext cx="47548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data structure store used for caching, sessions, and pub/sub messaging.</a:t>
            </a:r>
            <a:endParaRPr lang="en-US" sz="875" dirty="0"/>
          </a:p>
        </p:txBody>
      </p:sp>
      <p:sp>
        <p:nvSpPr>
          <p:cNvPr id="35" name="Shape 33"/>
          <p:cNvSpPr/>
          <p:nvPr/>
        </p:nvSpPr>
        <p:spPr>
          <a:xfrm>
            <a:off x="6355080" y="4160520"/>
            <a:ext cx="52120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519672" y="430682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636349" y="44235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636349" y="44505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636349" y="4538409"/>
            <a:ext cx="168981" cy="54074"/>
          </a:xfrm>
          <a:prstGeom prst="ellipse">
            <a:avLst/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013448" y="423367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Valkey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013448" y="44805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valkey/valkey:latest</a:t>
            </a:r>
            <a:endParaRPr lang="en-US" sz="825" dirty="0"/>
          </a:p>
        </p:txBody>
      </p:sp>
      <p:sp>
        <p:nvSpPr>
          <p:cNvPr id="42" name="Text 40">
            <a:hlinkClick r:id="rId6"/>
          </p:cNvPr>
          <p:cNvSpPr/>
          <p:nvPr/>
        </p:nvSpPr>
        <p:spPr>
          <a:xfrm>
            <a:off x="7013448" y="467258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hub.docker.com/r/valkey/valkey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7013448" y="486460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 ·  Resource: Low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83680" y="5102352"/>
            <a:ext cx="47548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Foundation-governed, fully open-source continuation of Redis.</a:t>
            </a:r>
            <a:endParaRPr lang="en-US" sz="875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162495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Databases — Curated Overview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" cy="420624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19456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Wide-Column / NewSQL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column stores built for large-scale, write-heavy workloads.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50392" y="2478024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67069" y="25947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67069" y="26217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7069" y="2709609"/>
            <a:ext cx="168981" cy="54074"/>
          </a:xfrm>
          <a:prstGeom prst="ellipse">
            <a:avLst/>
          </a:prstGeom>
          <a:solidFill>
            <a:srgbClr val="21295C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44168" y="240487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Cassandra  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44168" y="26517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cassandra:latest</a:t>
            </a:r>
            <a:endParaRPr lang="en-US" sz="825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1344168" y="284378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hub.docker.com/_/cassandra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344168" y="303580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 ·  Resource: Medium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3273552"/>
            <a:ext cx="475488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available wide-column store built for large-scale, write-heavy, multi-datacenter workloads. A long-standing choice for systems that can't tolerate downtime.</a:t>
            </a:r>
            <a:endParaRPr lang="en-US" sz="875" dirty="0"/>
          </a:p>
        </p:txBody>
      </p:sp>
      <p:sp>
        <p:nvSpPr>
          <p:cNvPr id="15" name="Shape 13"/>
          <p:cNvSpPr/>
          <p:nvPr/>
        </p:nvSpPr>
        <p:spPr>
          <a:xfrm>
            <a:off x="6355080" y="233172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19672" y="2478024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36349" y="25947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636349" y="26217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636349" y="2709609"/>
            <a:ext cx="168981" cy="54074"/>
          </a:xfrm>
          <a:prstGeom prst="ellipse">
            <a:avLst/>
          </a:prstGeom>
          <a:solidFill>
            <a:srgbClr val="21295C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013448" y="240487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ScyllaDB Open Source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13448" y="26517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scylladb/scylla:latest</a:t>
            </a:r>
            <a:endParaRPr lang="en-US" sz="825" dirty="0"/>
          </a:p>
        </p:txBody>
      </p:sp>
      <p:sp>
        <p:nvSpPr>
          <p:cNvPr id="22" name="Text 20">
            <a:hlinkClick r:id="rId4"/>
          </p:cNvPr>
          <p:cNvSpPr/>
          <p:nvPr/>
        </p:nvSpPr>
        <p:spPr>
          <a:xfrm>
            <a:off x="7013448" y="284378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hub.docker.com/r/scylladb/scylla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013448" y="303580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 ·  Resource: Medium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83680" y="3273552"/>
            <a:ext cx="475488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Cassandra/DynamoDB-compatible database rewritten in C++ for lower latency and better hardware utilization.</a:t>
            </a:r>
            <a:endParaRPr lang="en-US" sz="875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62495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Databases — Curated Overview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" cy="42062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19456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graph engines for traversing deeply connected data.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50392" y="247802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67069" y="25947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67069" y="26217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7069" y="2709609"/>
            <a:ext cx="168981" cy="5407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44168" y="240487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Community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44168" y="26517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neo4j:latest</a:t>
            </a:r>
            <a:endParaRPr lang="en-US" sz="825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1344168" y="284378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hub.docker.com/_/neo4j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344168" y="303580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 ·  Resource: Medium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3273552"/>
            <a:ext cx="475488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graph database optimized for traversing and querying deeply connected relationship data. GPLv3 — Enterprise needs an explicit tag and license.</a:t>
            </a:r>
            <a:endParaRPr lang="en-US" sz="875" dirty="0"/>
          </a:p>
        </p:txBody>
      </p:sp>
      <p:sp>
        <p:nvSpPr>
          <p:cNvPr id="15" name="Shape 13"/>
          <p:cNvSpPr/>
          <p:nvPr/>
        </p:nvSpPr>
        <p:spPr>
          <a:xfrm>
            <a:off x="6355080" y="233172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19672" y="247802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36349" y="25947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636349" y="26217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636349" y="2709609"/>
            <a:ext cx="168981" cy="5407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013448" y="240487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ArangoDB 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13448" y="26517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arangodb/arangodb:latest</a:t>
            </a:r>
            <a:endParaRPr lang="en-US" sz="825" dirty="0"/>
          </a:p>
        </p:txBody>
      </p:sp>
      <p:sp>
        <p:nvSpPr>
          <p:cNvPr id="22" name="Text 20">
            <a:hlinkClick r:id="rId4"/>
          </p:cNvPr>
          <p:cNvSpPr/>
          <p:nvPr/>
        </p:nvSpPr>
        <p:spPr>
          <a:xfrm>
            <a:off x="7013448" y="284378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hub.docker.com/r/arangodb/arangodb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013448" y="303580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 ·  Resource: Medium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83680" y="3273552"/>
            <a:ext cx="475488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database combining document, graph, and key-value capabilities in a single engine.</a:t>
            </a:r>
            <a:endParaRPr lang="en-US" sz="875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62495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Databases — Curated Overview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" cy="42062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19456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stores for metrics, events, and monitoring data.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50392" y="247802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67069" y="25947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67069" y="26217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7069" y="2709609"/>
            <a:ext cx="168981" cy="54074"/>
          </a:xfrm>
          <a:prstGeom prst="ellipse">
            <a:avLst/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44168" y="240487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InfluxDB OSS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44168" y="26517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influxdb:latest</a:t>
            </a:r>
            <a:endParaRPr lang="en-US" sz="825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1344168" y="284378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hub.docker.com/_/influxdb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344168" y="303580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 ·  Resource: Low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3273552"/>
            <a:ext cx="475488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time-series database for metrics, events, and real-time monitoring. v1 and v2 APIs differ significantly — confirm which the tag resolves to.</a:t>
            </a:r>
            <a:endParaRPr lang="en-US" sz="875" dirty="0"/>
          </a:p>
        </p:txBody>
      </p:sp>
      <p:sp>
        <p:nvSpPr>
          <p:cNvPr id="15" name="Shape 13"/>
          <p:cNvSpPr/>
          <p:nvPr/>
        </p:nvSpPr>
        <p:spPr>
          <a:xfrm>
            <a:off x="6355080" y="233172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19672" y="247802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36349" y="25947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636349" y="26217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636349" y="2709609"/>
            <a:ext cx="168981" cy="54074"/>
          </a:xfrm>
          <a:prstGeom prst="ellipse">
            <a:avLst/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013448" y="240487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TimescaleDB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13448" y="26517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timescale/timescaledb:latest</a:t>
            </a:r>
            <a:endParaRPr lang="en-US" sz="825" dirty="0"/>
          </a:p>
        </p:txBody>
      </p:sp>
      <p:sp>
        <p:nvSpPr>
          <p:cNvPr id="22" name="Text 20">
            <a:hlinkClick r:id="rId4"/>
          </p:cNvPr>
          <p:cNvSpPr/>
          <p:nvPr/>
        </p:nvSpPr>
        <p:spPr>
          <a:xfrm>
            <a:off x="7013448" y="284378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hub.docker.com/r/timescale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013448" y="303580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 ·  Resource: Low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83680" y="3273552"/>
            <a:ext cx="475488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extension adding scalable time-series capabilities while keeping full SQL support.</a:t>
            </a:r>
            <a:endParaRPr lang="en-US" sz="875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62495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Databases — Curated Overview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" cy="420624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19456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/ Analytics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and columnar analytics engines.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52120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50392" y="1517904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67069" y="163458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67069" y="166161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7069" y="1749489"/>
            <a:ext cx="168981" cy="54074"/>
          </a:xfrm>
          <a:prstGeom prst="ellipse">
            <a:avLst/>
          </a:prstGeom>
          <a:solidFill>
            <a:srgbClr val="21295C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44168" y="144475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44168" y="169164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opensearchproject/opensearch:latest</a:t>
            </a:r>
            <a:endParaRPr lang="en-US" sz="825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1344168" y="188366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hub.docker.com/r/opensearch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344168" y="207568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 ·  Resource: Medium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2313432"/>
            <a:ext cx="47548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analytics suite forked from Elasticsearch, with visualization tooling included.</a:t>
            </a:r>
            <a:endParaRPr lang="en-US" sz="875" dirty="0"/>
          </a:p>
        </p:txBody>
      </p:sp>
      <p:sp>
        <p:nvSpPr>
          <p:cNvPr id="15" name="Shape 13"/>
          <p:cNvSpPr/>
          <p:nvPr/>
        </p:nvSpPr>
        <p:spPr>
          <a:xfrm>
            <a:off x="6355080" y="1371600"/>
            <a:ext cx="52120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19672" y="151790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36349" y="163458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636349" y="166161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636349" y="1749489"/>
            <a:ext cx="168981" cy="54074"/>
          </a:xfrm>
          <a:prstGeom prst="ellipse">
            <a:avLst/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013448" y="144475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13448" y="169164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docker.elastic.co/elasticsearch/elasticsearch:latest</a:t>
            </a:r>
            <a:endParaRPr lang="en-US" sz="825" dirty="0"/>
          </a:p>
        </p:txBody>
      </p:sp>
      <p:sp>
        <p:nvSpPr>
          <p:cNvPr id="22" name="Text 20">
            <a:hlinkClick r:id="rId4"/>
          </p:cNvPr>
          <p:cNvSpPr/>
          <p:nvPr/>
        </p:nvSpPr>
        <p:spPr>
          <a:xfrm>
            <a:off x="7013448" y="188366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docker.elastic.co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013448" y="207568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Free/SA  ·  Resource: High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83680" y="2313432"/>
            <a:ext cx="47548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search and analytics engine widely used for log analytics and full-text search.</a:t>
            </a:r>
            <a:endParaRPr lang="en-US" sz="875" dirty="0"/>
          </a:p>
        </p:txBody>
      </p:sp>
      <p:sp>
        <p:nvSpPr>
          <p:cNvPr id="25" name="Shape 23"/>
          <p:cNvSpPr/>
          <p:nvPr/>
        </p:nvSpPr>
        <p:spPr>
          <a:xfrm>
            <a:off x="685800" y="4160520"/>
            <a:ext cx="52120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0392" y="430682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67069" y="44235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67069" y="44505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67069" y="4538409"/>
            <a:ext cx="168981" cy="5407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344168" y="423367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Solr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344168" y="44805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solr:latest</a:t>
            </a:r>
            <a:endParaRPr lang="en-US" sz="825" dirty="0"/>
          </a:p>
        </p:txBody>
      </p:sp>
      <p:sp>
        <p:nvSpPr>
          <p:cNvPr id="32" name="Text 30">
            <a:hlinkClick r:id="rId5"/>
          </p:cNvPr>
          <p:cNvSpPr/>
          <p:nvPr/>
        </p:nvSpPr>
        <p:spPr>
          <a:xfrm>
            <a:off x="1344168" y="467258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hub.docker.com/_/solr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344168" y="486460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 ·  Resource: Medium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14400" y="5102352"/>
            <a:ext cx="47548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search platform built on Apache Lucene, with faceted search and indexing at scale.</a:t>
            </a:r>
            <a:endParaRPr lang="en-US" sz="875" dirty="0"/>
          </a:p>
        </p:txBody>
      </p:sp>
      <p:sp>
        <p:nvSpPr>
          <p:cNvPr id="35" name="Shape 33"/>
          <p:cNvSpPr/>
          <p:nvPr/>
        </p:nvSpPr>
        <p:spPr>
          <a:xfrm>
            <a:off x="6355080" y="4160520"/>
            <a:ext cx="52120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519672" y="4306824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636349" y="44235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636349" y="44505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636349" y="4538409"/>
            <a:ext cx="168981" cy="54074"/>
          </a:xfrm>
          <a:prstGeom prst="ellipse">
            <a:avLst/>
          </a:prstGeom>
          <a:solidFill>
            <a:srgbClr val="21295C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013448" y="423367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013448" y="44805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clickhouse/clickhouse-server:latest</a:t>
            </a:r>
            <a:endParaRPr lang="en-US" sz="825" dirty="0"/>
          </a:p>
        </p:txBody>
      </p:sp>
      <p:sp>
        <p:nvSpPr>
          <p:cNvPr id="42" name="Text 40">
            <a:hlinkClick r:id="rId6"/>
          </p:cNvPr>
          <p:cNvSpPr/>
          <p:nvPr/>
        </p:nvSpPr>
        <p:spPr>
          <a:xfrm>
            <a:off x="7013448" y="467258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hub.docker.com/r/clickhouse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7013448" y="486460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 ·  Resource: Medium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83680" y="5102352"/>
            <a:ext cx="47548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Column-oriented OLAP database built for extremely fast aggregate queries over large datasets.</a:t>
            </a:r>
            <a:endParaRPr lang="en-US" sz="875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162495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Databases — Curated Overview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" cy="42062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19456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embeddings and AI/ML similarity search.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52120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50392" y="151790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67069" y="163458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67069" y="166161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7069" y="1749489"/>
            <a:ext cx="168981" cy="5407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44168" y="144475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44168" y="169164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milvusdb/milvus:latest</a:t>
            </a:r>
            <a:endParaRPr lang="en-US" sz="825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1344168" y="188366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hub.docker.com/r/milvusdb/milvus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344168" y="207568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 ·  Resource: Medium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2313432"/>
            <a:ext cx="47548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vector database for similarity search over large-scale embedding datasets.</a:t>
            </a:r>
            <a:endParaRPr lang="en-US" sz="875" dirty="0"/>
          </a:p>
        </p:txBody>
      </p:sp>
      <p:sp>
        <p:nvSpPr>
          <p:cNvPr id="15" name="Shape 13"/>
          <p:cNvSpPr/>
          <p:nvPr/>
        </p:nvSpPr>
        <p:spPr>
          <a:xfrm>
            <a:off x="6355080" y="1371600"/>
            <a:ext cx="52120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19672" y="151790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36349" y="163458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636349" y="166161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636349" y="1749489"/>
            <a:ext cx="168981" cy="5407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013448" y="144475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13448" y="169164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qdrant/qdrant:latest</a:t>
            </a:r>
            <a:endParaRPr lang="en-US" sz="825" dirty="0"/>
          </a:p>
        </p:txBody>
      </p:sp>
      <p:sp>
        <p:nvSpPr>
          <p:cNvPr id="22" name="Text 20">
            <a:hlinkClick r:id="rId4"/>
          </p:cNvPr>
          <p:cNvSpPr/>
          <p:nvPr/>
        </p:nvSpPr>
        <p:spPr>
          <a:xfrm>
            <a:off x="7013448" y="188366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hub.docker.com/r/qdrant/qdrant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013448" y="207568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 ·  Resource: Low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83680" y="2313432"/>
            <a:ext cx="47548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similarity search engine with a simple REST/gRPC API, built for production AI apps.</a:t>
            </a:r>
            <a:endParaRPr lang="en-US" sz="875" dirty="0"/>
          </a:p>
        </p:txBody>
      </p:sp>
      <p:sp>
        <p:nvSpPr>
          <p:cNvPr id="25" name="Shape 23"/>
          <p:cNvSpPr/>
          <p:nvPr/>
        </p:nvSpPr>
        <p:spPr>
          <a:xfrm>
            <a:off x="685800" y="4160520"/>
            <a:ext cx="52120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50392" y="430682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67069" y="44235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67069" y="44505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67069" y="4538409"/>
            <a:ext cx="168981" cy="54074"/>
          </a:xfrm>
          <a:prstGeom prst="ellipse">
            <a:avLst/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344168" y="423367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344168" y="44805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semitechnologies/weaviate:latest</a:t>
            </a:r>
            <a:endParaRPr lang="en-US" sz="825" dirty="0"/>
          </a:p>
        </p:txBody>
      </p:sp>
      <p:sp>
        <p:nvSpPr>
          <p:cNvPr id="32" name="Text 30">
            <a:hlinkClick r:id="rId5"/>
          </p:cNvPr>
          <p:cNvSpPr/>
          <p:nvPr/>
        </p:nvSpPr>
        <p:spPr>
          <a:xfrm>
            <a:off x="1344168" y="467258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hub.docker.com/r/semitechnologies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1344168" y="486460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 ·  Resource: Medium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14400" y="5102352"/>
            <a:ext cx="47548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with built-in modules for hybrid keyword + semantic search.</a:t>
            </a:r>
            <a:endParaRPr lang="en-US" sz="875" dirty="0"/>
          </a:p>
        </p:txBody>
      </p:sp>
      <p:sp>
        <p:nvSpPr>
          <p:cNvPr id="35" name="Shape 33"/>
          <p:cNvSpPr/>
          <p:nvPr/>
        </p:nvSpPr>
        <p:spPr>
          <a:xfrm>
            <a:off x="6355080" y="4160520"/>
            <a:ext cx="52120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519672" y="430682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636349" y="44235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636349" y="44505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636349" y="4538409"/>
            <a:ext cx="168981" cy="54074"/>
          </a:xfrm>
          <a:prstGeom prst="ellipse">
            <a:avLst/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013448" y="423367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013448" y="44805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pgvector/pgvector:latest</a:t>
            </a:r>
            <a:endParaRPr lang="en-US" sz="825" dirty="0"/>
          </a:p>
        </p:txBody>
      </p:sp>
      <p:sp>
        <p:nvSpPr>
          <p:cNvPr id="42" name="Text 40">
            <a:hlinkClick r:id="rId6"/>
          </p:cNvPr>
          <p:cNvSpPr/>
          <p:nvPr/>
        </p:nvSpPr>
        <p:spPr>
          <a:xfrm>
            <a:off x="7013448" y="467258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hub.docker.com/r/pgvector/pgvector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7013448" y="486460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 ·  Resource: Low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83680" y="5102352"/>
            <a:ext cx="475488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extension enabling native storage and similarity search over vector embeddings.</a:t>
            </a:r>
            <a:endParaRPr lang="en-US" sz="875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162495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Databases — Curated Overview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" cy="420624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19456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Emulators &amp; Quick Pull Reference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local emulators, plus Podman and Docker pull commands.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50392" y="1472184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67069" y="158886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67069" y="161589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67069" y="1703769"/>
            <a:ext cx="168981" cy="54074"/>
          </a:xfrm>
          <a:prstGeom prst="ellipse">
            <a:avLst/>
          </a:prstGeom>
          <a:solidFill>
            <a:srgbClr val="21295C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44168" y="139903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  ✓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44168" y="164592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localstack/localstack:latest</a:t>
            </a:r>
            <a:endParaRPr lang="en-US" sz="825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1344168" y="183794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hub.docker.com/r/localstack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344168" y="202996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  ·  Resource: Medium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14400" y="2267712"/>
            <a:ext cx="475488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cloud emulator mimicking AWS services (S3, DynamoDB, and more) for offline development.</a:t>
            </a:r>
            <a:endParaRPr lang="en-US" sz="875" dirty="0"/>
          </a:p>
        </p:txBody>
      </p:sp>
      <p:sp>
        <p:nvSpPr>
          <p:cNvPr id="15" name="Shape 13"/>
          <p:cNvSpPr/>
          <p:nvPr/>
        </p:nvSpPr>
        <p:spPr>
          <a:xfrm>
            <a:off x="6355080" y="132588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19672" y="1472184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36349" y="158886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636349" y="161589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636349" y="1703769"/>
            <a:ext cx="168981" cy="54074"/>
          </a:xfrm>
          <a:prstGeom prst="ellipse">
            <a:avLst/>
          </a:prstGeom>
          <a:solidFill>
            <a:srgbClr val="21295C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013448" y="139903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Cosmos DB Emulator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13448" y="164592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mcr.microsoft.com/cosmosdb/linux/azure-cosmos-emulator:latest</a:t>
            </a:r>
            <a:endParaRPr lang="en-US" sz="825" dirty="0"/>
          </a:p>
        </p:txBody>
      </p:sp>
      <p:sp>
        <p:nvSpPr>
          <p:cNvPr id="22" name="Text 20">
            <a:hlinkClick r:id="rId4"/>
          </p:cNvPr>
          <p:cNvSpPr/>
          <p:nvPr/>
        </p:nvSpPr>
        <p:spPr>
          <a:xfrm>
            <a:off x="7013448" y="1837944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mcr.microsoft.com/.../cosmos-emulator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013448" y="2029968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  ·  Resource: High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83680" y="2267712"/>
            <a:ext cx="475488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75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emulator for Azure Cosmos DB, supporting the NoSQL, Mongo, and Cassandra APIs.</a:t>
            </a:r>
            <a:endParaRPr lang="en-US" sz="875" dirty="0"/>
          </a:p>
        </p:txBody>
      </p:sp>
      <p:sp>
        <p:nvSpPr>
          <p:cNvPr id="25" name="Shape 23"/>
          <p:cNvSpPr/>
          <p:nvPr/>
        </p:nvSpPr>
        <p:spPr>
          <a:xfrm>
            <a:off x="685800" y="3291840"/>
            <a:ext cx="5257800" cy="2834640"/>
          </a:xfrm>
          <a:prstGeom prst="roundRect">
            <a:avLst>
              <a:gd name="adj" fmla="val 2581"/>
            </a:avLst>
          </a:prstGeom>
          <a:solidFill>
            <a:srgbClr val="0F2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14400" y="34381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4400" y="370332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podman pull docker.io/library/postgres:latest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podman pull icr.io/db2_community/db2:latest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podman pull docker.io/mongodb/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mongodb-community-server:latest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podman pull docker.io/couchbase/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server:community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291840"/>
            <a:ext cx="5257800" cy="2834640"/>
          </a:xfrm>
          <a:prstGeom prst="roundRect">
            <a:avLst>
              <a:gd name="adj" fmla="val 2581"/>
            </a:avLst>
          </a:prstGeom>
          <a:solidFill>
            <a:srgbClr val="0F2A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46520" y="34381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6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46520" y="3703320"/>
            <a:ext cx="4846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docker.io/library/postgres:latest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icr.io/db2_community/db2:latest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docker.io/mongodb/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mongodb-community-server:latest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docker.io/couchbase/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C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server:community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162495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Databases — Curated Overview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" cy="42062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19456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for Container DB Labs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habits that save time once you move past a single quick-start container.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156362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85357" y="16803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85357" y="17073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85357" y="1795209"/>
            <a:ext cx="168981" cy="54074"/>
          </a:xfrm>
          <a:prstGeom prst="ellipse">
            <a:avLst/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41832" y="2039112"/>
            <a:ext cx="2825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data with named volumes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41832" y="2441448"/>
            <a:ext cx="28254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filesystems are ephemeral by default — mount a named volume so data survives a container restart or rebuild.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43400" y="141732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26280" y="156362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42957" y="16803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42957" y="17073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42957" y="1795209"/>
            <a:ext cx="168981" cy="5407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99432" y="2039112"/>
            <a:ext cx="2825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dedicated network per lab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99432" y="2441448"/>
            <a:ext cx="28254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related containers (DB + app + cache) on their own Podman/Docker network instead of relying on host networking.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01000" y="141732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183880" y="1563624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300557" y="16803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300557" y="17073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300557" y="1795209"/>
            <a:ext cx="168981" cy="54074"/>
          </a:xfrm>
          <a:prstGeom prst="ellipse">
            <a:avLst/>
          </a:prstGeom>
          <a:solidFill>
            <a:srgbClr val="21295C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257032" y="2039112"/>
            <a:ext cx="2825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default credentials immediately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57032" y="2441448"/>
            <a:ext cx="28254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images ship with well-known default users/passwords — rotate them before exposing any port beyond localhost.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" y="347472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68680" y="362102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985357" y="37377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85357" y="37647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985357" y="3852609"/>
            <a:ext cx="168981" cy="54074"/>
          </a:xfrm>
          <a:prstGeom prst="ellipse">
            <a:avLst/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41832" y="4096512"/>
            <a:ext cx="2825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memory limits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1832" y="4498848"/>
            <a:ext cx="28254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Db2, Elasticsearch, and Cassandra images assume generous defaults — set explicit limits for laptop-scale labs.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43400" y="347472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526280" y="362102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642957" y="37377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642957" y="37647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642957" y="3852609"/>
            <a:ext cx="168981" cy="54074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99432" y="4096512"/>
            <a:ext cx="2825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out of Compose files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99432" y="4498848"/>
            <a:ext cx="28254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.env file or a secrets manager rather than hardcoding passwords directly into docker-compose.yml.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01000" y="3474720"/>
            <a:ext cx="33375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4E9"/>
            </a:solidFill>
            <a:prstDash val="solid"/>
          </a:ln>
          <a:effectLst>
            <a:outerShdw blurRad="76200" dist="25400" dir="5400000" algn="bl" rotWithShape="0">
              <a:srgbClr val="365E7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183880" y="3621024"/>
            <a:ext cx="402336" cy="402336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8300557" y="3737701"/>
            <a:ext cx="168981" cy="5407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8300557" y="3764738"/>
            <a:ext cx="168981" cy="1149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300557" y="3852609"/>
            <a:ext cx="168981" cy="54074"/>
          </a:xfrm>
          <a:prstGeom prst="ellipse">
            <a:avLst/>
          </a:prstGeom>
          <a:solidFill>
            <a:srgbClr val="21295C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257032" y="4096512"/>
            <a:ext cx="2825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before major upgrades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257032" y="4498848"/>
            <a:ext cx="28254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logical backup (pg_dump, mongodump, etc.) before pulling a new major version tag over an existing volume.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162495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Databases — Curated Overview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" cy="42062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219456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&amp; Caveats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to check before you build a lab or PoC on these images.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49808" y="148132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71789" y="1603309"/>
            <a:ext cx="176662" cy="565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71789" y="1631575"/>
            <a:ext cx="176662" cy="1201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71789" y="1723439"/>
            <a:ext cx="176662" cy="56532"/>
          </a:xfrm>
          <a:prstGeom prst="ellipse">
            <a:avLst/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0" y="1417320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registries differ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70992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Db2, Oracle Free, and Couchbase pull from vendor registries (icr.io, container-registry.oracle.com) — separate login/auth steps apply.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241401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71789" y="2535997"/>
            <a:ext cx="176662" cy="565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71789" y="2564263"/>
            <a:ext cx="176662" cy="1201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71789" y="2656127"/>
            <a:ext cx="176662" cy="56532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371600" y="2350008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image migration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264261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"mongo" image is deprecated for new major versions; use mongodb/mongodb-community-server instead.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" y="3346704"/>
            <a:ext cx="420624" cy="420624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71789" y="3468685"/>
            <a:ext cx="176662" cy="565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71789" y="3496951"/>
            <a:ext cx="176662" cy="1201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71789" y="3588815"/>
            <a:ext cx="176662" cy="56532"/>
          </a:xfrm>
          <a:prstGeom prst="ellipse">
            <a:avLst/>
          </a:prstGeom>
          <a:solidFill>
            <a:srgbClr val="21295C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371600" y="3282696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licensing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57530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changed to SSPL in 7.11. If a fully OSI-approved license matters, OpenSearch is the safer pick.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9808" y="4279392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71789" y="4401373"/>
            <a:ext cx="176662" cy="565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71789" y="4429639"/>
            <a:ext cx="176662" cy="1201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71789" y="4521503"/>
            <a:ext cx="176662" cy="56532"/>
          </a:xfrm>
          <a:prstGeom prst="ellipse">
            <a:avLst/>
          </a:prstGeom>
          <a:solidFill>
            <a:srgbClr val="065A82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371600" y="4215384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CockroachDB license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450799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BSL, not pure open source — free to use for most non-production / PoC purposes.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9808" y="521208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71789" y="5334061"/>
            <a:ext cx="176662" cy="565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71789" y="5362327"/>
            <a:ext cx="176662" cy="12013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71789" y="5454191"/>
            <a:ext cx="176662" cy="56532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1371600" y="514807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"latest" tags move; licenses can too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71600" y="54406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uses ":latest" throughout for discovery — pin an explicit tag for CI/CD or shared labs. Vendor licenses (MongoDB, Elasticsearch, ArangoDB, and others) have also changed in recent years, so re-check before production or commercial use.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162495" y="64922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Databases — Curated Overview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6128" y="604520"/>
            <a:ext cx="1005840" cy="1005840"/>
          </a:xfrm>
          <a:prstGeom prst="ellipse">
            <a:avLst/>
          </a:prstGeom>
          <a:solidFill>
            <a:srgbClr val="1347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887822" y="896214"/>
            <a:ext cx="422453" cy="135185"/>
          </a:xfrm>
          <a:prstGeom prst="ellipse">
            <a:avLst/>
          </a:prstGeom>
          <a:solidFill>
            <a:srgbClr val="2E7A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887822" y="963806"/>
            <a:ext cx="422453" cy="287268"/>
          </a:xfrm>
          <a:prstGeom prst="rect">
            <a:avLst/>
          </a:prstGeom>
          <a:solidFill>
            <a:srgbClr val="2E7A9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887822" y="1183482"/>
            <a:ext cx="422453" cy="135185"/>
          </a:xfrm>
          <a:prstGeom prst="ellipse">
            <a:avLst/>
          </a:prstGeom>
          <a:solidFill>
            <a:srgbClr val="13475F"/>
          </a:solidFill>
          <a:ln w="15875">
            <a:solidFill>
              <a:srgbClr val="2E7A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97280" y="2026920"/>
            <a:ext cx="99943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deck is a curated overview.</a:t>
            </a:r>
            <a:endParaRPr lang="en-US" sz="22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README is the complete, maintained reference.</a:t>
            </a:r>
          </a:p>
          <a:p>
            <a:pPr marL="0" indent="0" algn="ctr">
              <a:lnSpc>
                <a:spcPct val="115000"/>
              </a:lnSpc>
              <a:buNone/>
            </a:pPr>
            <a:endParaRPr lang="en-US" sz="22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algn="ctr">
              <a:lnSpc>
                <a:spcPct val="115000"/>
              </a:lnSpc>
            </a:pPr>
            <a:r>
              <a:rPr lang="en-US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https://github.com/softclement/containerized-databases-reference</a:t>
            </a:r>
            <a:endParaRPr lang="en-US" b="1" dirty="0">
              <a:solidFill>
                <a:schemeClr val="bg1"/>
              </a:solidFill>
            </a:endParaRPr>
          </a:p>
          <a:p>
            <a:pPr algn="ctr">
              <a:lnSpc>
                <a:spcPct val="115000"/>
              </a:lnSpc>
            </a:pP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0" y="3611880"/>
            <a:ext cx="8165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images, repositories, licensing notes, and best practices all live in the README alongside this deck.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84648" y="4343400"/>
            <a:ext cx="1828800" cy="0"/>
          </a:xfrm>
          <a:prstGeom prst="line">
            <a:avLst/>
          </a:prstGeom>
          <a:noFill/>
          <a:ln w="19050">
            <a:solidFill>
              <a:srgbClr val="2E7A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843016" y="4590288"/>
            <a:ext cx="512064" cy="512064"/>
          </a:xfrm>
          <a:prstGeom prst="ellipse">
            <a:avLst/>
          </a:prstGeom>
          <a:solidFill>
            <a:srgbClr val="0A66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843016" y="45902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52120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Clement</a:t>
            </a:r>
            <a:endParaRPr lang="en-US" sz="1800" dirty="0"/>
          </a:p>
        </p:txBody>
      </p:sp>
      <p:sp>
        <p:nvSpPr>
          <p:cNvPr id="12" name="Text 10">
            <a:hlinkClick r:id="rId4"/>
          </p:cNvPr>
          <p:cNvSpPr/>
          <p:nvPr/>
        </p:nvSpPr>
        <p:spPr>
          <a:xfrm>
            <a:off x="1371600" y="5577840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u="sng" dirty="0">
                <a:solidFill>
                  <a:srgbClr val="6FB6D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linkedin.com/in/mariyanclement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1886</Words>
  <Application>Microsoft Office PowerPoint</Application>
  <PresentationFormat>Widescreen</PresentationFormat>
  <Paragraphs>282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softclement@gmail.com</dc:creator>
  <cp:lastModifiedBy>Mariyan Clement Swaminathan</cp:lastModifiedBy>
  <cp:revision>5</cp:revision>
  <dcterms:created xsi:type="dcterms:W3CDTF">2026-08-12T11:39:57Z</dcterms:created>
  <dcterms:modified xsi:type="dcterms:W3CDTF">2026-08-12T12:13:17Z</dcterms:modified>
</cp:coreProperties>
</file>